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7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7" autoAdjust="0"/>
    <p:restoredTop sz="93462" autoAdjust="0"/>
  </p:normalViewPr>
  <p:slideViewPr>
    <p:cSldViewPr snapToGrid="0">
      <p:cViewPr varScale="1">
        <p:scale>
          <a:sx n="102" d="100"/>
          <a:sy n="102" d="100"/>
        </p:scale>
        <p:origin x="94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019F82-5323-DA31-64BE-6D350D495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1B8284-3282-AF9A-681B-84353120B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F52946-E33E-42EF-C185-D6B61E560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B3E8F-6EFE-48F8-9D2F-9C4165EF6D8C}" type="datetimeFigureOut">
              <a:rPr lang="es-ES" smtClean="0"/>
              <a:t>01/11/2025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EA99F1-538B-68DF-949C-197388C74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54E503-8814-2F99-4F1A-446CD71D5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2D64-33A9-414B-A99D-E2F15FF599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586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67384E-944F-044B-549F-B8CEAEBB3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832A27-69CC-4A0F-C885-5CCB8169B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400A07-003C-44D7-1081-19EF88101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B3E8F-6EFE-48F8-9D2F-9C4165EF6D8C}" type="datetimeFigureOut">
              <a:rPr lang="es-ES" smtClean="0"/>
              <a:t>01/11/2025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95890A-2182-0BC8-3A35-A795D07D1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754B6F-9D92-511D-91A8-C831A4050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2D64-33A9-414B-A99D-E2F15FF599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7375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85D6B2-C883-D2E6-68BC-9E9EB6ACF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B1B1B0D-BDD0-6B33-95C1-FAC0587BB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F7EBD0-3A44-A8D8-A5D5-2B27C6A63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B3E8F-6EFE-48F8-9D2F-9C4165EF6D8C}" type="datetimeFigureOut">
              <a:rPr lang="es-ES" smtClean="0"/>
              <a:t>01/11/2025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F04C0C-3003-A338-20D7-AF90AFB14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9EEF7E-787B-91B2-2D45-6E9185E11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2D64-33A9-414B-A99D-E2F15FF599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9117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3C2EF-96F5-B400-C154-9DEA1A2B4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E57CC2-BE48-2D09-5D05-060AC6F97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D5B47EE-3E1A-740B-9DE8-AF11A4376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A4D7B2-177D-056A-292B-CFF460429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B3E8F-6EFE-48F8-9D2F-9C4165EF6D8C}" type="datetimeFigureOut">
              <a:rPr lang="es-ES" smtClean="0"/>
              <a:t>01/11/2025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6FB0B2-4E6E-50D8-F50D-CED1EBEB0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2A8B8E-8DD6-D498-22EE-1E35572A1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2D64-33A9-414B-A99D-E2F15FF599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529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D1F698-9BDC-75B2-A7B7-07D915E94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51127C-C40A-B13A-FA7B-629B9EDA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395E15A-7A79-0659-06FE-1706D6805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9F7E063-7038-CD03-3486-7E43BF31A2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267A959-DA1F-E5F5-958E-57600107D7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5225E0-0128-FDE3-82D1-20B94820E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B3E8F-6EFE-48F8-9D2F-9C4165EF6D8C}" type="datetimeFigureOut">
              <a:rPr lang="es-ES" smtClean="0"/>
              <a:t>01/11/2025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1C52E22-93C8-7A7A-7964-0900FDD94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24F30C8-E426-A94F-EEC7-356339FC2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2D64-33A9-414B-A99D-E2F15FF599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2610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B2E32C-7B13-75FF-8DAA-6CFBC19FC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916101-35D1-FFCF-48EC-F2965173D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B3E8F-6EFE-48F8-9D2F-9C4165EF6D8C}" type="datetimeFigureOut">
              <a:rPr lang="es-ES" smtClean="0"/>
              <a:t>01/11/2025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6353293-76B3-8C9B-2973-6F32C207D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771E65B-7C72-F892-6E96-DCF2E3090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2D64-33A9-414B-A99D-E2F15FF599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8943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298024D-7731-29A8-A5FA-363C91E22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B3E8F-6EFE-48F8-9D2F-9C4165EF6D8C}" type="datetimeFigureOut">
              <a:rPr lang="es-ES" smtClean="0"/>
              <a:t>01/11/2025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D842843-4C66-E668-D8D4-32FDFE6A5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B5A4AB-C1F2-4219-064A-F671D80D8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2D64-33A9-414B-A99D-E2F15FF599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281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E3738-46B0-EA76-8862-5A5EA81A5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216B06-8A5C-4CF5-09B6-B302D44DF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F46EA20-D41E-3069-61C7-32AB0890D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4FC0C5F-832E-EB62-F84D-BADD247A4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B3E8F-6EFE-48F8-9D2F-9C4165EF6D8C}" type="datetimeFigureOut">
              <a:rPr lang="es-ES" smtClean="0"/>
              <a:t>01/11/2025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46C8C-9C0C-5EFC-B685-1E8FC045D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573F05-D118-C99D-3A58-5F720B3ED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2D64-33A9-414B-A99D-E2F15FF599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8581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6F928-0DC8-74E5-2281-D2388ACA9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DDA94A2-8DA1-9157-0FCA-3420FA4444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97D4CDB-ADAE-134D-2426-DC11B11E5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02F19E8-B7A8-3C45-0000-8F7C9099E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B3E8F-6EFE-48F8-9D2F-9C4165EF6D8C}" type="datetimeFigureOut">
              <a:rPr lang="es-ES" smtClean="0"/>
              <a:t>01/11/2025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B7C3989-097F-17FD-7414-4CDF83C07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CE2FA9-4CB0-D0D0-A2EC-07CEBC89D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2D64-33A9-414B-A99D-E2F15FF599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5289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60198-258C-8ED1-F1EF-AD84322D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969745E-6CBF-9444-BBC0-1A97F0320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30EC34-1DF8-7719-5293-136155B6E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B3E8F-6EFE-48F8-9D2F-9C4165EF6D8C}" type="datetimeFigureOut">
              <a:rPr lang="es-ES" smtClean="0"/>
              <a:t>01/11/2025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704FE9-56D4-A65A-D851-F83F96E75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DCB5CC-95CC-1BEE-7FCE-405B9541C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2D64-33A9-414B-A99D-E2F15FF599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7151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EA08BD-F038-E52B-8F1C-4CE2706366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010EB4B-5211-D521-F2C8-45DD5CFEB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D405D3-5787-5104-7CE1-EF2606F20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B3E8F-6EFE-48F8-9D2F-9C4165EF6D8C}" type="datetimeFigureOut">
              <a:rPr lang="es-ES" smtClean="0"/>
              <a:t>01/11/2025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776672-D61A-7B62-F555-614F21ABC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07F9C9-7C1E-C4EA-0AD1-5C051D6A1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2D64-33A9-414B-A99D-E2F15FF599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9205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4CEC7D3-8EF3-6C49-38D1-2549F0DAB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832BE4-20D6-413E-95B2-42864D65F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0E916E-F1A2-D5CE-7358-FEE405570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BB3E8F-6EFE-48F8-9D2F-9C4165EF6D8C}" type="datetimeFigureOut">
              <a:rPr lang="es-ES" smtClean="0"/>
              <a:t>01/11/2025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3A20DC-834A-C7EA-D264-3095CF1DF1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114ECF-6787-B881-759E-FE64DEDF36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6E2D64-33A9-414B-A99D-E2F15FF599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5714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F16A467-D06A-6BA7-2C9D-1765AEED62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28" name="Picture 4" descr="Qué opinan de estos animes los fans? ¿Los animes que más famosos se han  hecho, es por moda o porque realmente son buenos? - Virtual Gamer">
            <a:extLst>
              <a:ext uri="{FF2B5EF4-FFF2-40B4-BE49-F238E27FC236}">
                <a16:creationId xmlns:a16="http://schemas.microsoft.com/office/drawing/2014/main" id="{92F5A994-37C6-D093-1637-D7392B5AE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65" y="111218"/>
            <a:ext cx="11796558" cy="66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5DAD322-55E9-339F-CEFB-96527E10561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r="25037"/>
          <a:stretch>
            <a:fillRect/>
          </a:stretch>
        </p:blipFill>
        <p:spPr>
          <a:xfrm>
            <a:off x="6644456" y="0"/>
            <a:ext cx="5383160" cy="6858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6F11754-D51E-EA0D-41F1-EF9EB9C77AC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581" y="0"/>
            <a:ext cx="7181152" cy="6858000"/>
          </a:xfrm>
          <a:prstGeom prst="rect">
            <a:avLst/>
          </a:prstGeom>
        </p:spPr>
      </p:pic>
      <p:sp>
        <p:nvSpPr>
          <p:cNvPr id="5" name="Marco 4">
            <a:extLst>
              <a:ext uri="{FF2B5EF4-FFF2-40B4-BE49-F238E27FC236}">
                <a16:creationId xmlns:a16="http://schemas.microsoft.com/office/drawing/2014/main" id="{A11EEE88-720C-16BA-547E-13EDC0783C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181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D2EC6E6-7861-D2CD-FF3D-883B4F06E456}"/>
              </a:ext>
            </a:extLst>
          </p:cNvPr>
          <p:cNvSpPr txBox="1"/>
          <p:nvPr/>
        </p:nvSpPr>
        <p:spPr>
          <a:xfrm>
            <a:off x="231058" y="1859340"/>
            <a:ext cx="1172988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ng Fu Panda" panose="02000000000000000000" pitchFamily="2" charset="0"/>
              </a:rPr>
              <a:t>Algoritmo de Recomendacion de Animes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466D683-AFDD-D8F2-3898-D697E8587A2F}"/>
              </a:ext>
            </a:extLst>
          </p:cNvPr>
          <p:cNvSpPr txBox="1"/>
          <p:nvPr/>
        </p:nvSpPr>
        <p:spPr>
          <a:xfrm>
            <a:off x="231058" y="6202226"/>
            <a:ext cx="11729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u="sng" dirty="0">
                <a:solidFill>
                  <a:schemeClr val="bg1"/>
                </a:solidFill>
                <a:latin typeface="Kung Fu Panda" panose="02000000000000000000" pitchFamily="2" charset="0"/>
              </a:rPr>
              <a:t>De: Gabriel Michielon y  David </a:t>
            </a:r>
            <a:r>
              <a:rPr lang="es-ES" sz="2000" u="sng" dirty="0" err="1">
                <a:solidFill>
                  <a:schemeClr val="bg1"/>
                </a:solidFill>
                <a:latin typeface="Kung Fu Panda" panose="02000000000000000000" pitchFamily="2" charset="0"/>
              </a:rPr>
              <a:t>Lopez</a:t>
            </a:r>
            <a:endParaRPr lang="es-ES" sz="2000" u="sng" dirty="0">
              <a:solidFill>
                <a:schemeClr val="bg1"/>
              </a:solidFill>
              <a:latin typeface="Kung Fu Panda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691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72CD6-043F-7F27-6C07-1393B8A52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DC6A01A-2623-D0C0-F904-606B323D1F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o 4">
            <a:extLst>
              <a:ext uri="{FF2B5EF4-FFF2-40B4-BE49-F238E27FC236}">
                <a16:creationId xmlns:a16="http://schemas.microsoft.com/office/drawing/2014/main" id="{444C86AA-3D22-A7EE-19B1-6DB1B84498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181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FA87C4E-739D-89B1-D40B-BF3967A641D2}"/>
              </a:ext>
            </a:extLst>
          </p:cNvPr>
          <p:cNvSpPr txBox="1"/>
          <p:nvPr/>
        </p:nvSpPr>
        <p:spPr>
          <a:xfrm>
            <a:off x="231058" y="249615"/>
            <a:ext cx="11729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ng Fu Panda" panose="02000000000000000000" pitchFamily="2" charset="0"/>
              </a:rPr>
              <a:t>Herramientas Utilizadas</a:t>
            </a:r>
          </a:p>
        </p:txBody>
      </p:sp>
      <p:pic>
        <p:nvPicPr>
          <p:cNvPr id="2050" name="Picture 2" descr="MySQL logo PNG transparent image download, size: 300x300px">
            <a:extLst>
              <a:ext uri="{FF2B5EF4-FFF2-40B4-BE49-F238E27FC236}">
                <a16:creationId xmlns:a16="http://schemas.microsoft.com/office/drawing/2014/main" id="{FB924005-A58E-754C-ECDC-3DBA61D20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2152650"/>
            <a:ext cx="2552700" cy="255270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Fork - a fast and friendly git client for Mac and Windows">
            <a:extLst>
              <a:ext uri="{FF2B5EF4-FFF2-40B4-BE49-F238E27FC236}">
                <a16:creationId xmlns:a16="http://schemas.microsoft.com/office/drawing/2014/main" id="{55403FBC-D5A8-18D5-8B5B-9FAD1615C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25" y="2009775"/>
            <a:ext cx="2838450" cy="283845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E52D6E60-1377-B2D5-0129-8D6090881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275" y="1444238"/>
            <a:ext cx="2457450" cy="245745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8F1674E3-C199-FA67-BA37-F26E9DA13DF7}"/>
              </a:ext>
            </a:extLst>
          </p:cNvPr>
          <p:cNvSpPr txBox="1"/>
          <p:nvPr/>
        </p:nvSpPr>
        <p:spPr>
          <a:xfrm>
            <a:off x="4743450" y="3930263"/>
            <a:ext cx="270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ng Fu Panda" panose="02000000000000000000" pitchFamily="2" charset="0"/>
              </a:rPr>
              <a:t>python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20F3027-469F-108F-C1DC-5D7B717F2BBC}"/>
              </a:ext>
            </a:extLst>
          </p:cNvPr>
          <p:cNvSpPr txBox="1"/>
          <p:nvPr/>
        </p:nvSpPr>
        <p:spPr>
          <a:xfrm>
            <a:off x="9067800" y="4692134"/>
            <a:ext cx="270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ng Fu Panda" panose="02000000000000000000" pitchFamily="2" charset="0"/>
              </a:rPr>
              <a:t>Fork</a:t>
            </a:r>
            <a:r>
              <a:rPr lang="es-E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ng Fu Panda" panose="02000000000000000000" pitchFamily="2" charset="0"/>
              </a:rPr>
              <a:t> Git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40D653D-A2BA-3A35-B99C-E42864A12B7A}"/>
              </a:ext>
            </a:extLst>
          </p:cNvPr>
          <p:cNvSpPr txBox="1"/>
          <p:nvPr/>
        </p:nvSpPr>
        <p:spPr>
          <a:xfrm>
            <a:off x="495300" y="4692134"/>
            <a:ext cx="270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ng Fu Panda" panose="02000000000000000000" pitchFamily="2" charset="0"/>
              </a:rPr>
              <a:t>MySQL</a:t>
            </a:r>
          </a:p>
        </p:txBody>
      </p:sp>
    </p:spTree>
    <p:extLst>
      <p:ext uri="{BB962C8B-B14F-4D97-AF65-F5344CB8AC3E}">
        <p14:creationId xmlns:p14="http://schemas.microsoft.com/office/powerpoint/2010/main" val="703407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E472D-EE15-1F98-774C-913150F53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EC28BF0-4805-5CB4-8ECC-95F3566BB8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o 4">
            <a:extLst>
              <a:ext uri="{FF2B5EF4-FFF2-40B4-BE49-F238E27FC236}">
                <a16:creationId xmlns:a16="http://schemas.microsoft.com/office/drawing/2014/main" id="{EE45D61B-6273-6077-953D-CAADBEB6D7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181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7893715-E2B0-1865-7945-6579EF9D09C1}"/>
              </a:ext>
            </a:extLst>
          </p:cNvPr>
          <p:cNvSpPr txBox="1"/>
          <p:nvPr/>
        </p:nvSpPr>
        <p:spPr>
          <a:xfrm>
            <a:off x="231058" y="249615"/>
            <a:ext cx="11729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ng Fu Panda" panose="02000000000000000000" pitchFamily="2" charset="0"/>
              </a:rPr>
              <a:t>Inicios del proyecto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40702D4-962F-122A-2C70-3ECDC6D7B750}"/>
              </a:ext>
            </a:extLst>
          </p:cNvPr>
          <p:cNvSpPr txBox="1"/>
          <p:nvPr/>
        </p:nvSpPr>
        <p:spPr>
          <a:xfrm>
            <a:off x="2066924" y="1050409"/>
            <a:ext cx="805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ng Fu Panda" panose="02000000000000000000" pitchFamily="2" charset="0"/>
              </a:rPr>
              <a:t>Pasos Seguidos simplificados: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6879677-5CFD-0A91-981E-91720B4D49F9}"/>
              </a:ext>
            </a:extLst>
          </p:cNvPr>
          <p:cNvSpPr txBox="1"/>
          <p:nvPr/>
        </p:nvSpPr>
        <p:spPr>
          <a:xfrm>
            <a:off x="3076574" y="2252277"/>
            <a:ext cx="603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ghty Souly" panose="02000600000000000000" pitchFamily="2" charset="0"/>
              </a:rPr>
              <a:t>2. Creación de diagramas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F8966AE-BD1B-624F-0F3D-B8B6572B8A53}"/>
              </a:ext>
            </a:extLst>
          </p:cNvPr>
          <p:cNvSpPr txBox="1"/>
          <p:nvPr/>
        </p:nvSpPr>
        <p:spPr>
          <a:xfrm>
            <a:off x="3076574" y="1706867"/>
            <a:ext cx="603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ghty Souly" panose="02000600000000000000" pitchFamily="2" charset="0"/>
              </a:rPr>
              <a:t>1. Pensar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8B960E7-8DE4-D966-6D7C-3ADCB1BC39CA}"/>
              </a:ext>
            </a:extLst>
          </p:cNvPr>
          <p:cNvSpPr txBox="1"/>
          <p:nvPr/>
        </p:nvSpPr>
        <p:spPr>
          <a:xfrm>
            <a:off x="2371725" y="2797687"/>
            <a:ext cx="7448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ghty Souly" panose="02000600000000000000" pitchFamily="2" charset="0"/>
              </a:rPr>
              <a:t>3. Creación del repositorio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EDA7D51-B46A-66CE-D250-43E505B93001}"/>
              </a:ext>
            </a:extLst>
          </p:cNvPr>
          <p:cNvSpPr txBox="1"/>
          <p:nvPr/>
        </p:nvSpPr>
        <p:spPr>
          <a:xfrm>
            <a:off x="1914525" y="3337368"/>
            <a:ext cx="836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ghty Souly" panose="02000600000000000000" pitchFamily="2" charset="0"/>
              </a:rPr>
              <a:t>4. Estructuración del repositorio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F40FD42-F1D5-EA93-D1F8-3FDFB612362B}"/>
              </a:ext>
            </a:extLst>
          </p:cNvPr>
          <p:cNvSpPr txBox="1"/>
          <p:nvPr/>
        </p:nvSpPr>
        <p:spPr>
          <a:xfrm>
            <a:off x="1914525" y="3877049"/>
            <a:ext cx="836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ghty Souly" panose="02000600000000000000" pitchFamily="2" charset="0"/>
              </a:rPr>
              <a:t>5. Desarrollo de la base de datos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7E75059-9499-C0C0-F2B1-55B5287DBC7A}"/>
              </a:ext>
            </a:extLst>
          </p:cNvPr>
          <p:cNvSpPr txBox="1"/>
          <p:nvPr/>
        </p:nvSpPr>
        <p:spPr>
          <a:xfrm>
            <a:off x="304800" y="4414049"/>
            <a:ext cx="1158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ghty Souly" panose="02000600000000000000" pitchFamily="2" charset="0"/>
              </a:rPr>
              <a:t>6. Desarrollo del Frontend con </a:t>
            </a:r>
            <a:r>
              <a:rPr lang="es-ES" sz="28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ghty Souly" panose="02000600000000000000" pitchFamily="2" charset="0"/>
              </a:rPr>
              <a:t>logins</a:t>
            </a:r>
            <a:r>
              <a:rPr lang="es-E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ghty Souly" panose="02000600000000000000" pitchFamily="2" charset="0"/>
              </a:rPr>
              <a:t> y acciones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9347B92-C9A6-09C2-F160-00EDADC67E07}"/>
              </a:ext>
            </a:extLst>
          </p:cNvPr>
          <p:cNvSpPr txBox="1"/>
          <p:nvPr/>
        </p:nvSpPr>
        <p:spPr>
          <a:xfrm>
            <a:off x="304800" y="4951049"/>
            <a:ext cx="1158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ghty Souly" panose="02000600000000000000" pitchFamily="2" charset="0"/>
              </a:rPr>
              <a:t>7. Desarrollo del </a:t>
            </a:r>
            <a:r>
              <a:rPr lang="es-ES" sz="28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ghty Souly" panose="02000600000000000000" pitchFamily="2" charset="0"/>
              </a:rPr>
              <a:t>Backend</a:t>
            </a:r>
            <a:r>
              <a:rPr lang="es-E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ghty Souly" panose="02000600000000000000" pitchFamily="2" charset="0"/>
              </a:rPr>
              <a:t> separando el notebook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7279A4F-0E5D-4855-34B5-E9FCDC087E02}"/>
              </a:ext>
            </a:extLst>
          </p:cNvPr>
          <p:cNvSpPr txBox="1"/>
          <p:nvPr/>
        </p:nvSpPr>
        <p:spPr>
          <a:xfrm>
            <a:off x="304800" y="5523857"/>
            <a:ext cx="1158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ghty Souly" panose="02000600000000000000" pitchFamily="2" charset="0"/>
              </a:rPr>
              <a:t>8. Pruebas</a:t>
            </a:r>
          </a:p>
        </p:txBody>
      </p:sp>
    </p:spTree>
    <p:extLst>
      <p:ext uri="{BB962C8B-B14F-4D97-AF65-F5344CB8AC3E}">
        <p14:creationId xmlns:p14="http://schemas.microsoft.com/office/powerpoint/2010/main" val="179282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31A7C-06A5-DB3B-0A2E-8C55D11BE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A62DC6F-BEB8-72B0-0BB5-B9A6FC9E34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o 4">
            <a:extLst>
              <a:ext uri="{FF2B5EF4-FFF2-40B4-BE49-F238E27FC236}">
                <a16:creationId xmlns:a16="http://schemas.microsoft.com/office/drawing/2014/main" id="{496D5860-1C54-FCDF-FF9A-A729A8EDCE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181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D5852F5-606C-CE67-5F76-C1A1237CC341}"/>
              </a:ext>
            </a:extLst>
          </p:cNvPr>
          <p:cNvSpPr txBox="1"/>
          <p:nvPr/>
        </p:nvSpPr>
        <p:spPr>
          <a:xfrm>
            <a:off x="231058" y="249615"/>
            <a:ext cx="11729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ng Fu Panda" panose="02000000000000000000" pitchFamily="2" charset="0"/>
              </a:rPr>
              <a:t>Inicios del proyecto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B21C081-500C-10B4-9BD0-E68661E495C9}"/>
              </a:ext>
            </a:extLst>
          </p:cNvPr>
          <p:cNvSpPr txBox="1"/>
          <p:nvPr/>
        </p:nvSpPr>
        <p:spPr>
          <a:xfrm>
            <a:off x="755160" y="1084005"/>
            <a:ext cx="4502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ng Fu Panda" panose="02000000000000000000" pitchFamily="2" charset="0"/>
              </a:rPr>
              <a:t>Base de datos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957725D-7E51-512C-1C31-4D38EA1053D8}"/>
              </a:ext>
            </a:extLst>
          </p:cNvPr>
          <p:cNvSpPr txBox="1"/>
          <p:nvPr/>
        </p:nvSpPr>
        <p:spPr>
          <a:xfrm>
            <a:off x="7033700" y="1084005"/>
            <a:ext cx="4502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ng Fu Panda" panose="02000000000000000000" pitchFamily="2" charset="0"/>
              </a:rPr>
              <a:t>Clases</a:t>
            </a:r>
          </a:p>
        </p:txBody>
      </p:sp>
      <p:pic>
        <p:nvPicPr>
          <p:cNvPr id="15" name="Imagen 14" descr="Diagrama&#10;&#10;El contenido generado por IA puede ser incorrecto.">
            <a:extLst>
              <a:ext uri="{FF2B5EF4-FFF2-40B4-BE49-F238E27FC236}">
                <a16:creationId xmlns:a16="http://schemas.microsoft.com/office/drawing/2014/main" id="{C9AEF47E-844A-925D-30A8-B537611F0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50" b="72428"/>
          <a:stretch>
            <a:fillRect/>
          </a:stretch>
        </p:blipFill>
        <p:spPr>
          <a:xfrm>
            <a:off x="361067" y="1757186"/>
            <a:ext cx="5329152" cy="154545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6" name="Imagen 15" descr="Diagrama&#10;&#10;El contenido generado por IA puede ser incorrecto.">
            <a:extLst>
              <a:ext uri="{FF2B5EF4-FFF2-40B4-BE49-F238E27FC236}">
                <a16:creationId xmlns:a16="http://schemas.microsoft.com/office/drawing/2014/main" id="{9F19EF68-48A2-B337-7BDF-F77F6E03D7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785"/>
          <a:stretch>
            <a:fillRect/>
          </a:stretch>
        </p:blipFill>
        <p:spPr>
          <a:xfrm>
            <a:off x="6590275" y="1757186"/>
            <a:ext cx="5255172" cy="433528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89BD41BE-E1D3-B399-BC4C-A131865D54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505"/>
          <a:stretch>
            <a:fillRect/>
          </a:stretch>
        </p:blipFill>
        <p:spPr>
          <a:xfrm>
            <a:off x="361068" y="3514156"/>
            <a:ext cx="5329152" cy="120984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8107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4FCF3-32BB-5499-2B37-215B88BF4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6149847-9F8D-1BA7-E1FF-3487067CF1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o 4">
            <a:extLst>
              <a:ext uri="{FF2B5EF4-FFF2-40B4-BE49-F238E27FC236}">
                <a16:creationId xmlns:a16="http://schemas.microsoft.com/office/drawing/2014/main" id="{DFAC70C0-B1C9-3769-0C11-B6C1D94E60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181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1182F8E-88EA-539B-7AC8-363D1F467C2E}"/>
              </a:ext>
            </a:extLst>
          </p:cNvPr>
          <p:cNvSpPr txBox="1"/>
          <p:nvPr/>
        </p:nvSpPr>
        <p:spPr>
          <a:xfrm>
            <a:off x="231058" y="249615"/>
            <a:ext cx="11729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ng Fu Panda" panose="02000000000000000000" pitchFamily="2" charset="0"/>
              </a:rPr>
              <a:t>Inicios del proyecto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385F534-3EA0-9F80-7C75-F707FD76076F}"/>
              </a:ext>
            </a:extLst>
          </p:cNvPr>
          <p:cNvSpPr txBox="1"/>
          <p:nvPr/>
        </p:nvSpPr>
        <p:spPr>
          <a:xfrm>
            <a:off x="3162301" y="1084005"/>
            <a:ext cx="586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ng Fu Panda" panose="02000000000000000000" pitchFamily="2" charset="0"/>
              </a:rPr>
              <a:t>Estructura del proyecto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0E46444-1402-0F59-A753-88BA3270B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995" y="1795285"/>
            <a:ext cx="6878010" cy="152421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E792011-FDD0-A56E-0E0A-3691D1128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493" y="4148008"/>
            <a:ext cx="2876776" cy="204758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2BC538E8-ACEB-61A8-88B6-A4E5BF691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880" y="4141302"/>
            <a:ext cx="3248478" cy="194337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5ECF7D83-58E1-0D21-EAD8-D701D6B26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761" y="4141302"/>
            <a:ext cx="3248478" cy="201958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B4868B15-40B9-DCFA-EA0D-7576D3D89A98}"/>
              </a:ext>
            </a:extLst>
          </p:cNvPr>
          <p:cNvCxnSpPr>
            <a:cxnSpLocks/>
          </p:cNvCxnSpPr>
          <p:nvPr/>
        </p:nvCxnSpPr>
        <p:spPr>
          <a:xfrm>
            <a:off x="7720239" y="3206536"/>
            <a:ext cx="976086" cy="882657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C22DDAB2-3F14-360F-2FB4-E6130C3E44A1}"/>
              </a:ext>
            </a:extLst>
          </p:cNvPr>
          <p:cNvCxnSpPr>
            <a:cxnSpLocks/>
          </p:cNvCxnSpPr>
          <p:nvPr/>
        </p:nvCxnSpPr>
        <p:spPr>
          <a:xfrm flipH="1">
            <a:off x="3343632" y="3159621"/>
            <a:ext cx="976086" cy="882657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2BA28A13-6E25-8A2B-7CAB-29BF0CAD3224}"/>
              </a:ext>
            </a:extLst>
          </p:cNvPr>
          <p:cNvCxnSpPr>
            <a:cxnSpLocks/>
          </p:cNvCxnSpPr>
          <p:nvPr/>
        </p:nvCxnSpPr>
        <p:spPr>
          <a:xfrm flipH="1">
            <a:off x="6075871" y="3178671"/>
            <a:ext cx="20129" cy="882657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353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3EEDC-ABCC-F655-0BEB-685B0D97A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45ECDC3-FB96-A483-8733-6CFD645DAA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o 4">
            <a:extLst>
              <a:ext uri="{FF2B5EF4-FFF2-40B4-BE49-F238E27FC236}">
                <a16:creationId xmlns:a16="http://schemas.microsoft.com/office/drawing/2014/main" id="{8F2BB530-CA71-C9D7-31A7-F99B61EFEC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181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639B2BC-D97A-7DEC-A170-B9E230DE5216}"/>
              </a:ext>
            </a:extLst>
          </p:cNvPr>
          <p:cNvSpPr txBox="1"/>
          <p:nvPr/>
        </p:nvSpPr>
        <p:spPr>
          <a:xfrm>
            <a:off x="231058" y="249615"/>
            <a:ext cx="11729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ng Fu Panda" panose="02000000000000000000" pitchFamily="2" charset="0"/>
              </a:rPr>
              <a:t>Frontend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0F253A1-3D12-3520-2779-EFFACE8FB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507" y="882265"/>
            <a:ext cx="4591050" cy="175642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106B3D5-645C-E938-F07A-491DBE8B8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64" y="3095874"/>
            <a:ext cx="1950167" cy="326199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D506CD5-B293-60AE-0E52-5909BEBB2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9752" y="3222704"/>
            <a:ext cx="3068731" cy="326199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52D8F5BB-B266-B2D5-EBCA-693444CDF9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558" y="714607"/>
            <a:ext cx="2095500" cy="213479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4986C705-69FD-B975-CAFE-68A87F99D5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5581" y="3186668"/>
            <a:ext cx="2339130" cy="318381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82231EDF-4ACC-0EEA-0904-B75AB94BB5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1861" y="3171028"/>
            <a:ext cx="3634208" cy="321509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00CE52FF-31B6-8978-6124-D60ADDF0ADD3}"/>
              </a:ext>
            </a:extLst>
          </p:cNvPr>
          <p:cNvSpPr txBox="1"/>
          <p:nvPr/>
        </p:nvSpPr>
        <p:spPr>
          <a:xfrm>
            <a:off x="373931" y="2507516"/>
            <a:ext cx="2178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ng Fu Panda" panose="02000000000000000000" pitchFamily="2" charset="0"/>
              </a:rPr>
              <a:t>Base de datos y </a:t>
            </a:r>
          </a:p>
          <a:p>
            <a:pPr algn="ctr"/>
            <a:r>
              <a:rPr lang="es-E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ng Fu Panda" panose="02000000000000000000" pitchFamily="2" charset="0"/>
              </a:rPr>
              <a:t>login general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C2F8255-4100-B7CB-1C54-8D6C7A5BBD4C}"/>
              </a:ext>
            </a:extLst>
          </p:cNvPr>
          <p:cNvSpPr txBox="1"/>
          <p:nvPr/>
        </p:nvSpPr>
        <p:spPr>
          <a:xfrm>
            <a:off x="2653476" y="2861373"/>
            <a:ext cx="2178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ng Fu Panda" panose="02000000000000000000" pitchFamily="2" charset="0"/>
              </a:rPr>
              <a:t>Recomendar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4366EBB-C430-E478-C0D3-5280EDCB96BF}"/>
              </a:ext>
            </a:extLst>
          </p:cNvPr>
          <p:cNvSpPr txBox="1"/>
          <p:nvPr/>
        </p:nvSpPr>
        <p:spPr>
          <a:xfrm>
            <a:off x="5142960" y="2861373"/>
            <a:ext cx="3131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ng Fu Panda" panose="02000000000000000000" pitchFamily="2" charset="0"/>
              </a:rPr>
              <a:t>Agregar y Recomendar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37CEB7F-D613-D8DD-7218-D04EA11D8AFE}"/>
              </a:ext>
            </a:extLst>
          </p:cNvPr>
          <p:cNvSpPr txBox="1"/>
          <p:nvPr/>
        </p:nvSpPr>
        <p:spPr>
          <a:xfrm>
            <a:off x="9290558" y="423499"/>
            <a:ext cx="2095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ng Fu Panda" panose="02000000000000000000" pitchFamily="2" charset="0"/>
              </a:rPr>
              <a:t>Ver la version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41996AB-015B-BC34-9D5F-2BE3FA144523}"/>
              </a:ext>
            </a:extLst>
          </p:cNvPr>
          <p:cNvSpPr txBox="1"/>
          <p:nvPr/>
        </p:nvSpPr>
        <p:spPr>
          <a:xfrm>
            <a:off x="9156367" y="2894029"/>
            <a:ext cx="2095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ng Fu Panda" panose="02000000000000000000" pitchFamily="2" charset="0"/>
              </a:rPr>
              <a:t>Testeo</a:t>
            </a:r>
          </a:p>
        </p:txBody>
      </p:sp>
    </p:spTree>
    <p:extLst>
      <p:ext uri="{BB962C8B-B14F-4D97-AF65-F5344CB8AC3E}">
        <p14:creationId xmlns:p14="http://schemas.microsoft.com/office/powerpoint/2010/main" val="510522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58F94-8AEF-13FB-CD2A-C0557D277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F9275A3-1FFC-274B-A393-6CFE084DEA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o 4">
            <a:extLst>
              <a:ext uri="{FF2B5EF4-FFF2-40B4-BE49-F238E27FC236}">
                <a16:creationId xmlns:a16="http://schemas.microsoft.com/office/drawing/2014/main" id="{211150F3-9062-DA6A-13BA-45A08C60AF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181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0F0E7BC-B26E-6688-451D-CB2D191B6198}"/>
              </a:ext>
            </a:extLst>
          </p:cNvPr>
          <p:cNvSpPr txBox="1"/>
          <p:nvPr/>
        </p:nvSpPr>
        <p:spPr>
          <a:xfrm>
            <a:off x="231058" y="249615"/>
            <a:ext cx="11729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ng Fu Panda" panose="02000000000000000000" pitchFamily="2" charset="0"/>
              </a:rPr>
              <a:t>Backend</a:t>
            </a:r>
            <a:endParaRPr lang="es-E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ung Fu Panda" panose="02000000000000000000" pitchFamily="2" charset="0"/>
            </a:endParaRP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BDB74130-4906-C5E7-C7AC-F6FA300E5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1" y="882015"/>
            <a:ext cx="5410200" cy="153401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8B2A1E6-113E-7001-47CA-52EC6367C3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92"/>
          <a:stretch>
            <a:fillRect/>
          </a:stretch>
        </p:blipFill>
        <p:spPr>
          <a:xfrm>
            <a:off x="4971292" y="2924221"/>
            <a:ext cx="6179421" cy="104654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3438629-5F3B-DB5C-FE95-A4C2969F0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62" y="1649024"/>
            <a:ext cx="4062413" cy="411517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275EF50-68F9-161B-0B56-D95FD5BF5F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1292" y="4541299"/>
            <a:ext cx="6179421" cy="122289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17081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2BE42-186A-CE8C-8B28-18BDEAF50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EDB38BB-B22C-9F42-80E0-51D792EF0E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o 4">
            <a:extLst>
              <a:ext uri="{FF2B5EF4-FFF2-40B4-BE49-F238E27FC236}">
                <a16:creationId xmlns:a16="http://schemas.microsoft.com/office/drawing/2014/main" id="{5DF39ADE-3A96-E444-62B2-A47A6D2E0C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181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833C2AA-39DD-7ABA-94CA-8C8A69F09413}"/>
              </a:ext>
            </a:extLst>
          </p:cNvPr>
          <p:cNvSpPr txBox="1"/>
          <p:nvPr/>
        </p:nvSpPr>
        <p:spPr>
          <a:xfrm>
            <a:off x="231058" y="249615"/>
            <a:ext cx="11729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ng Fu Panda" panose="02000000000000000000" pitchFamily="2" charset="0"/>
              </a:rPr>
              <a:t>Inconvenientes y cosas interesantes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8B88760-7F6A-4172-4B1B-C72EFA981ACF}"/>
              </a:ext>
            </a:extLst>
          </p:cNvPr>
          <p:cNvSpPr txBox="1"/>
          <p:nvPr/>
        </p:nvSpPr>
        <p:spPr>
          <a:xfrm>
            <a:off x="436923" y="1559275"/>
            <a:ext cx="1131815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ghty Souly" panose="02000600000000000000" pitchFamily="2" charset="0"/>
              </a:rPr>
              <a:t>Durante el proyecto tuvimos dos principales inconvenientes. El primero fue pasar el código del notebook a un .</a:t>
            </a:r>
            <a:r>
              <a:rPr lang="es-E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ghty Souly" panose="02000600000000000000" pitchFamily="2" charset="0"/>
              </a:rPr>
              <a:t>py</a:t>
            </a:r>
            <a:r>
              <a:rPr lang="es-E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ghty Souly" panose="02000600000000000000" pitchFamily="2" charset="0"/>
              </a:rPr>
              <a:t> sin que el modelo tardara demasiado en ejecutarse. Para solucionarlo, investigamos y consultamos con compañeros, y finalmente guardamos el modelo en un archivo .</a:t>
            </a:r>
            <a:r>
              <a:rPr lang="es-E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ghty Souly" panose="02000600000000000000" pitchFamily="2" charset="0"/>
              </a:rPr>
              <a:t>pkl</a:t>
            </a:r>
            <a:r>
              <a:rPr lang="es-E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ghty Souly" panose="02000600000000000000" pitchFamily="2" charset="0"/>
              </a:rPr>
              <a:t>, lo que redujo el tiempo de carga.</a:t>
            </a:r>
          </a:p>
          <a:p>
            <a:pPr algn="just"/>
            <a:endParaRPr lang="es-E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ghty Souly" panose="02000600000000000000" pitchFamily="2" charset="0"/>
            </a:endParaRPr>
          </a:p>
          <a:p>
            <a:pPr algn="just"/>
            <a:r>
              <a:rPr lang="es-E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ghty Souly" panose="02000600000000000000" pitchFamily="2" charset="0"/>
              </a:rPr>
              <a:t>El segundo problema surgió porque inicialmente la recomendación se trabajó por nombre en lugar de por ID, lo que generó conflictos. Esto se resolvió ajustando el modelo para trabajar correctamente con </a:t>
            </a:r>
            <a:r>
              <a:rPr lang="es-E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ghty Souly" panose="02000600000000000000" pitchFamily="2" charset="0"/>
              </a:rPr>
              <a:t>IDs</a:t>
            </a:r>
            <a:r>
              <a:rPr lang="es-E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ghty Souly" panose="02000600000000000000" pitchFamily="2" charset="0"/>
              </a:rPr>
              <a:t>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BEC6AEF-FB1B-48D0-20D0-CDAE7DBA56FD}"/>
              </a:ext>
            </a:extLst>
          </p:cNvPr>
          <p:cNvSpPr txBox="1"/>
          <p:nvPr/>
        </p:nvSpPr>
        <p:spPr>
          <a:xfrm>
            <a:off x="3162301" y="991989"/>
            <a:ext cx="586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ng Fu Panda" panose="02000000000000000000" pitchFamily="2" charset="0"/>
              </a:rPr>
              <a:t>Inconvenientes</a:t>
            </a:r>
          </a:p>
        </p:txBody>
      </p:sp>
      <p:pic>
        <p:nvPicPr>
          <p:cNvPr id="1026" name="Picture 2" descr="Anime Enojado">
            <a:extLst>
              <a:ext uri="{FF2B5EF4-FFF2-40B4-BE49-F238E27FC236}">
                <a16:creationId xmlns:a16="http://schemas.microsoft.com/office/drawing/2014/main" id="{B80513C5-8C5A-F235-E25D-ED475EF07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479" y="4812220"/>
            <a:ext cx="2947299" cy="169262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uál es tu tipo favorito de cara de enojo de anime? : r/animememes">
            <a:extLst>
              <a:ext uri="{FF2B5EF4-FFF2-40B4-BE49-F238E27FC236}">
                <a16:creationId xmlns:a16="http://schemas.microsoft.com/office/drawing/2014/main" id="{6DBBB49B-3690-258A-EDAF-A505C7A2FE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48" t="11344" r="209" b="50000"/>
          <a:stretch>
            <a:fillRect/>
          </a:stretch>
        </p:blipFill>
        <p:spPr bwMode="auto">
          <a:xfrm>
            <a:off x="572041" y="5164140"/>
            <a:ext cx="1370773" cy="134048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10 personajes de anime tan deprimidos que necesitan ir a terapia |  Entretenimiento Cine y Series | Univision">
            <a:extLst>
              <a:ext uri="{FF2B5EF4-FFF2-40B4-BE49-F238E27FC236}">
                <a16:creationId xmlns:a16="http://schemas.microsoft.com/office/drawing/2014/main" id="{AAEFD237-97F0-B0A1-81B7-484077566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0978" y="5103859"/>
            <a:ext cx="2556824" cy="1461042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1796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8D332-20C9-D8CC-6E73-04016EB2E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D477B89-4E5F-E32E-0219-AB46DDD20D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o 4">
            <a:extLst>
              <a:ext uri="{FF2B5EF4-FFF2-40B4-BE49-F238E27FC236}">
                <a16:creationId xmlns:a16="http://schemas.microsoft.com/office/drawing/2014/main" id="{1081EEC3-6B62-8F9B-D52B-C88B315A49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181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3F26589-4962-C763-799F-C260914B8298}"/>
              </a:ext>
            </a:extLst>
          </p:cNvPr>
          <p:cNvSpPr txBox="1"/>
          <p:nvPr/>
        </p:nvSpPr>
        <p:spPr>
          <a:xfrm>
            <a:off x="231058" y="249615"/>
            <a:ext cx="11729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ng Fu Panda" panose="02000000000000000000" pitchFamily="2" charset="0"/>
              </a:rPr>
              <a:t>Inconvenientes y cosas interesantes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CA69A47-3155-1030-0933-0892515B96BE}"/>
              </a:ext>
            </a:extLst>
          </p:cNvPr>
          <p:cNvSpPr txBox="1"/>
          <p:nvPr/>
        </p:nvSpPr>
        <p:spPr>
          <a:xfrm>
            <a:off x="436923" y="1757238"/>
            <a:ext cx="1131815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ghty Souly" panose="02000600000000000000" pitchFamily="2" charset="0"/>
              </a:rPr>
              <a:t>Lo mas interesante del proyecto fue aprender y aplicar nuevos conocimientos, entre ellos:</a:t>
            </a:r>
          </a:p>
          <a:p>
            <a:pPr algn="just"/>
            <a:endParaRPr lang="es-E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ghty Souly" panose="02000600000000000000" pitchFamily="2" charset="0"/>
            </a:endParaRPr>
          </a:p>
          <a:p>
            <a:pPr algn="just"/>
            <a:r>
              <a:rPr lang="es-E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ghty Souly" panose="02000600000000000000" pitchFamily="2" charset="0"/>
              </a:rPr>
              <a:t>#    Implementar el cifrado de contraseñas y su verificacion</a:t>
            </a:r>
          </a:p>
          <a:p>
            <a:pPr algn="just"/>
            <a:endParaRPr lang="es-E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ghty Souly" panose="02000600000000000000" pitchFamily="2" charset="0"/>
            </a:endParaRPr>
          </a:p>
          <a:p>
            <a:pPr algn="just"/>
            <a:r>
              <a:rPr lang="es-E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ghty Souly" panose="02000600000000000000" pitchFamily="2" charset="0"/>
              </a:rPr>
              <a:t>#    Desarrollar un sistema de login simple pero funcional.</a:t>
            </a:r>
          </a:p>
          <a:p>
            <a:pPr algn="just"/>
            <a:endParaRPr lang="es-E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ghty Souly" panose="02000600000000000000" pitchFamily="2" charset="0"/>
            </a:endParaRPr>
          </a:p>
          <a:p>
            <a:pPr algn="just"/>
            <a:r>
              <a:rPr lang="es-E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ghty Souly" panose="02000600000000000000" pitchFamily="2" charset="0"/>
              </a:rPr>
              <a:t>#    Integrar y estructurar una API junto con el algoritmo de recomendacion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7292675-0956-8544-EC15-81CC42A02AF3}"/>
              </a:ext>
            </a:extLst>
          </p:cNvPr>
          <p:cNvSpPr txBox="1"/>
          <p:nvPr/>
        </p:nvSpPr>
        <p:spPr>
          <a:xfrm>
            <a:off x="3162301" y="991989"/>
            <a:ext cx="586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ng Fu Panda" panose="02000000000000000000" pitchFamily="2" charset="0"/>
              </a:rPr>
              <a:t>cosas interesantes </a:t>
            </a:r>
          </a:p>
        </p:txBody>
      </p:sp>
      <p:pic>
        <p:nvPicPr>
          <p:cNvPr id="2050" name="Picture 2" descr="Feliz cumpleaños al futuro Rey Pirata y uno de los personajes más grandes e  influyentes en la historia del anime; ¡nuestra cabra Monkey D. Luffy!! 🎉 :  r/OnePiece">
            <a:extLst>
              <a:ext uri="{FF2B5EF4-FFF2-40B4-BE49-F238E27FC236}">
                <a16:creationId xmlns:a16="http://schemas.microsoft.com/office/drawing/2014/main" id="{96397822-9788-1DAA-1434-B2C7B48777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822" y="4819490"/>
            <a:ext cx="2821692" cy="159666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79A578D-9C63-AC04-76AF-1112D2C02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9" y="4730714"/>
            <a:ext cx="2997821" cy="168544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0258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06017-0E50-9979-D7C9-6FC3AB7B8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18EF131-6AF3-FA5B-B7BB-C6256DAEC6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o 4">
            <a:extLst>
              <a:ext uri="{FF2B5EF4-FFF2-40B4-BE49-F238E27FC236}">
                <a16:creationId xmlns:a16="http://schemas.microsoft.com/office/drawing/2014/main" id="{6CECD00A-3549-050E-68E1-286101BC59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181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4909E68-2802-C751-2365-0359DC67BC93}"/>
              </a:ext>
            </a:extLst>
          </p:cNvPr>
          <p:cNvSpPr txBox="1"/>
          <p:nvPr/>
        </p:nvSpPr>
        <p:spPr>
          <a:xfrm>
            <a:off x="1313469" y="2274838"/>
            <a:ext cx="95650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ng Fu Panda" panose="02000000000000000000" pitchFamily="2" charset="0"/>
              </a:rPr>
              <a:t>Gracias por su atencion</a:t>
            </a:r>
          </a:p>
        </p:txBody>
      </p:sp>
    </p:spTree>
    <p:extLst>
      <p:ext uri="{BB962C8B-B14F-4D97-AF65-F5344CB8AC3E}">
        <p14:creationId xmlns:p14="http://schemas.microsoft.com/office/powerpoint/2010/main" val="11776848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253</Words>
  <Application>Microsoft Office PowerPoint</Application>
  <PresentationFormat>Panorámica</PresentationFormat>
  <Paragraphs>44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Kung Fu Panda</vt:lpstr>
      <vt:lpstr>Mighty Souly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Michielon</dc:creator>
  <cp:lastModifiedBy>Gabriel Michielon</cp:lastModifiedBy>
  <cp:revision>17</cp:revision>
  <dcterms:created xsi:type="dcterms:W3CDTF">2025-10-31T23:36:07Z</dcterms:created>
  <dcterms:modified xsi:type="dcterms:W3CDTF">2025-11-01T22:50:08Z</dcterms:modified>
</cp:coreProperties>
</file>